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ce800b8-ffe6-a891-8972-d0ca899bec16}">
          <p14:sldIdLst>
            <p14:sldId id="256"/>
          </p14:sldIdLst>
        </p14:section>
        <p14:section name="Results" id="{edda8851-6ac4-e717-1be0-84fac1c9442f}">
          <p14:sldIdLst>
            <p14:sldId id="257"/>
            <p14:sldId id="258"/>
            <p14:sldId id="259"/>
          </p14:sldIdLst>
        </p14:section>
        <p14:section name="Keywords" id="{7b95e2a9-77f8-d26c-7731-7d7c1daceead}">
          <p14:sldIdLst>
            <p14:sldId id="260"/>
            <p14:sldId id="261"/>
            <p14:sldId id="262"/>
          </p14:sldIdLst>
        </p14:section>
        <p14:section name="Next steps" id="{b9aeb09a-f6d9-84a0-6ea3-5df6e919985c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302E"/>
                </a:solidFill>
                <a:latin typeface="+mn-lt"/>
              </a:rPr>
              <a:t>Exam copy requests from organic search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school</c:v>
                </c:pt>
              </c:strCache>
            </c:strRef>
          </c:tx>
          <c:spPr>
            <a:solidFill>
              <a:srgbClr val="0F5E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Same Q 2025</c:v>
                  </c:pt>
                  <c:pt idx="1">
                    <c:v>Last quarter</c:v>
                  </c:pt>
                  <c:pt idx="2">
                    <c:v>This quarter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Higher ed</c:v>
                </c:pt>
              </c:strCache>
            </c:strRef>
          </c:tx>
          <c:spPr>
            <a:solidFill>
              <a:srgbClr val="E8A2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Same Q 2025</c:v>
                  </c:pt>
                  <c:pt idx="1">
                    <c:v>Last quarter</c:v>
                  </c:pt>
                  <c:pt idx="2">
                    <c:v>This quarter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26</c:v>
                </c:pt>
                <c:pt idx="2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302E"/>
                </a:solidFill>
                <a:latin typeface="+mn-lt"/>
              </a:rPr>
              <a:t>"ai textbook" US searches, Oct 2025 – Sep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monthly searches</c:v>
                </c:pt>
              </c:strCache>
            </c:strRef>
          </c:tx>
          <c:spPr>
            <a:solidFill>
              <a:srgbClr val="0F5E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1000</c:v>
                </c:pt>
                <c:pt idx="1">
                  <c:v>590</c:v>
                </c:pt>
                <c:pt idx="2">
                  <c:v>480</c:v>
                </c:pt>
                <c:pt idx="3">
                  <c:v>720</c:v>
                </c:pt>
                <c:pt idx="4">
                  <c:v>720</c:v>
                </c:pt>
                <c:pt idx="5">
                  <c:v>480</c:v>
                </c:pt>
                <c:pt idx="6">
                  <c:v>480</c:v>
                </c:pt>
                <c:pt idx="7">
                  <c:v>480</c:v>
                </c:pt>
                <c:pt idx="8">
                  <c:v>320</c:v>
                </c:pt>
                <c:pt idx="9">
                  <c:v>320</c:v>
                </c:pt>
                <c:pt idx="10">
                  <c:v>880</c:v>
                </c:pt>
                <c:pt idx="11">
                  <c:v>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Data: Google Search Console, GA4 (bot traffic excluded), Google Keyword Planner. Full detail in the Google Doc v3 in the Mujo Drive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copy requests = instructor sample requests, high school and higher ed combined (72 + 43). GA4 with Singapore/China bot traffic excluded. Clicks and CTR from Search Console, 2026-07-19 to 2026-10-18 vs same period 2025. Impressions fell 38%, mostly a Google reporting change in Sept 2025 plus retired old URLs.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revenue from organic: US$2,338 this quarter vs US$1,023 a year ago. Small numbers and possibly affected by tracking changes after the rebuild; most adoption revenue comes through school purchase orders that GA4 can't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Search Console, this quarter vs same quarter 2025. Review stars seen in a live Google check on 2026-10-21.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hides most individual searches, so keyword lists show direction, not totals. Teacher-manual and lesson-plan losses trace to old product pages retired in the rebuild; existing Teacher Resources pages should be strengthened rather than new pages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Google Ads Keyword Planner, US. "ai textbook" and "artificial intelligence textbook" share the same volume. Also rising: "ai literacy curriculum" (110 in Sept, Mujo on page 3) and "foundations of marketing" (140 in Sept, Mujo at 5.6). Targets, not guarantees.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list from a logged-out Google spot check on 2026-10-21 (one location, directional). AI visits from GA4. No AI-mention tracking is set up yet; that's a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within the 10 hours/month retainer. Results depend on Google and competitors; these are targets, not guarantees.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blocking SEO work; quick answers let us move on steps 1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 Learning Systems · SEO review ·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SEO performance review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Mujo Learning Systems · quarter to 18 Oct 2026, vs last quarter and last year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Prepared by ThinkProfits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More leads and clicks than a year ago</a:t>
            </a:r>
            <a:endParaRPr lang="en-US" sz="3000" dirty="0"/>
          </a:p>
        </p:txBody>
      </p:sp>
      <p:sp>
        <p:nvSpPr>
          <p:cNvPr id="3" name="stat-card-1"/>
          <p:cNvSpPr/>
          <p:nvPr/>
        </p:nvSpPr>
        <p:spPr>
          <a:xfrm>
            <a:off x="457200" y="1280160"/>
            <a:ext cx="1920240" cy="30175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exam copy requests from organic search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+34% vs last year</a:t>
            </a:r>
            <a:endParaRPr lang="en-US" sz="1300" dirty="0"/>
          </a:p>
        </p:txBody>
      </p:sp>
      <p:sp>
        <p:nvSpPr>
          <p:cNvPr id="7" name="stat-card-2"/>
          <p:cNvSpPr/>
          <p:nvPr/>
        </p:nvSpPr>
        <p:spPr>
          <a:xfrm>
            <a:off x="2560320" y="1280160"/>
            <a:ext cx="1920240" cy="30175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1,673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clicks from Google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+15.5% vs last year</a:t>
            </a:r>
            <a:endParaRPr lang="en-US" sz="1300" dirty="0"/>
          </a:p>
        </p:txBody>
      </p:sp>
      <p:sp>
        <p:nvSpPr>
          <p:cNvPr id="11" name="stat-card-3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click-through rate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up from 0.84%</a:t>
            </a:r>
            <a:endParaRPr lang="en-US" sz="1300" dirty="0"/>
          </a:p>
        </p:txBody>
      </p:sp>
      <p:sp>
        <p:nvSpPr>
          <p:cNvPr id="15" name="stat-card-4"/>
          <p:cNvSpPr/>
          <p:nvPr/>
        </p:nvSpPr>
        <p:spPr>
          <a:xfrm>
            <a:off x="6766560" y="1280160"/>
            <a:ext cx="1920240" cy="30175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visits from ChatGPT &amp; Gemini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none a year ago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Instructor exam requests keep climbing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ads-callout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716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→ 115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 a quarter, year over year</a:t>
            </a:r>
            <a:endParaRPr lang="en-US" sz="3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Chats connected also rose 59% (82 → 130), and online sales went from 3 to 14 orders.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What's working</a:t>
            </a:r>
            <a:endParaRPr lang="en-US" sz="3000" dirty="0"/>
          </a:p>
        </p:txBody>
      </p:sp>
      <p:sp>
        <p:nvSpPr>
          <p:cNvPr id="3" name="win-card-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in-dot-1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Site rebuild held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Clicks grew after the June launch. Social Media Marketing (HS) went from 6 to 83 clicks; position 51 → 8.</a:t>
            </a:r>
            <a:endParaRPr lang="en-US" sz="1300" dirty="0"/>
          </a:p>
        </p:txBody>
      </p:sp>
      <p:sp>
        <p:nvSpPr>
          <p:cNvPr id="8" name="win-card-2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win-dot-2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titles found fast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Six new AI and business title pages already rank on page one, led by Generative AI for Business (40 clicks).</a:t>
            </a:r>
            <a:endParaRPr lang="en-US" sz="1300" dirty="0"/>
          </a:p>
        </p:txBody>
      </p:sp>
      <p:sp>
        <p:nvSpPr>
          <p:cNvPr id="13" name="win-card-3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win-dot-3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Teacher blog converts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Lesson-planning post: 17 → 86 clicks. Textbook selection guide: 26 clicks in its first quarter.</a:t>
            </a:r>
            <a:endParaRPr lang="en-US" sz="1300" dirty="0"/>
          </a:p>
        </p:txBody>
      </p:sp>
      <p:sp>
        <p:nvSpPr>
          <p:cNvPr id="18" name="win-card-4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win-dot-4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 stars show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Mujo's 5.0★ (23 reviews) appears in Google results, a real edge over competitors.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Keywords: AI up, teaching terms 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Climbed (average position, lower is better)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 textbooks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artificial intelligence textbook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cte textbooks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foundations of marketing*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high school marketing textbook*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Slipped since last year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digital marketing teacher manual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16.6–19.3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social media marketing lesson plans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digital marketing textbook publisher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high school marketing curriculum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*vs last quarter; others vs same quarter last year. The slipped terms get only ~10 US searches a month each.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Biggest opportunity: "AI textbook"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portunity-callout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716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~590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 searches a month, peaking at the start of each term</a:t>
            </a:r>
            <a:endParaRPr lang="en-US" sz="3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Mujo already ranks 6–7 but gets few clicks. Moving into the top 3 is the single biggest win available.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Who Mujo is up against</a:t>
            </a:r>
            <a:endParaRPr lang="en-US" sz="3000" dirty="0"/>
          </a:p>
        </p:txBody>
      </p:sp>
      <p:sp>
        <p:nvSpPr>
          <p:cNvPr id="3" name="comp-card-1"/>
          <p:cNvSpPr/>
          <p:nvPr/>
        </p:nvSpPr>
        <p:spPr>
          <a:xfrm>
            <a:off x="45720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Big publishers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McGraw Hill, Cengage, Goodheart-Willcox, Savvas, iCEV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generic terms like "CTE textbooks". Mujo wins on subject-specific searches instead.</a:t>
            </a:r>
            <a:endParaRPr lang="en-US" sz="1400" dirty="0"/>
          </a:p>
        </p:txBody>
      </p:sp>
      <p:sp>
        <p:nvSpPr>
          <p:cNvPr id="7" name="comp-card-2"/>
          <p:cNvSpPr/>
          <p:nvPr/>
        </p:nvSpPr>
        <p:spPr>
          <a:xfrm>
            <a:off x="324612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Teacher marketplaces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Teachers Pay Teachers, Business Education with Denise Leigh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06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 single units. Mujo's edge: complete, turnkey courseware.</a:t>
            </a:r>
            <a:endParaRPr lang="en-US" sz="1400" dirty="0"/>
          </a:p>
        </p:txBody>
      </p:sp>
      <p:sp>
        <p:nvSpPr>
          <p:cNvPr id="11" name="comp-card-3"/>
          <p:cNvSpPr/>
          <p:nvPr/>
        </p:nvSpPr>
        <p:spPr>
          <a:xfrm>
            <a:off x="603504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assistants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28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ChatGPT (82 visits), Gemini (21), Perplexity, Copilot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06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new referral source. 34 key actions from 107 visits this quarter.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Next 90 days</a:t>
            </a:r>
            <a:endParaRPr lang="en-US" sz="3000" dirty="0"/>
          </a:p>
        </p:txBody>
      </p:sp>
      <p:sp>
        <p:nvSpPr>
          <p:cNvPr id="3" name="step-dot-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 titles and descriptions on 6 high-view, low-click pages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Starting with AI for Business (7,978 views, 0.23% CTR)</a:t>
            </a:r>
            <a:endParaRPr lang="en-US" sz="1500" dirty="0"/>
          </a:p>
        </p:txBody>
      </p:sp>
      <p:sp>
        <p:nvSpPr>
          <p:cNvPr id="6" name="step-dot-2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28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Push "AI textbook" pages toward the top 3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Copy, FAQ and internal links on both AI hubs</a:t>
            </a:r>
            <a:endParaRPr lang="en-US" sz="1500" dirty="0"/>
          </a:p>
        </p:txBody>
      </p:sp>
      <p:sp>
        <p:nvSpPr>
          <p:cNvPr id="9" name="step-dot-3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146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Launch Book schema on all 38 titles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Drafted and tested; helps Google and AI answers</a:t>
            </a:r>
            <a:endParaRPr lang="en-US" sz="1500" dirty="0"/>
          </a:p>
        </p:txBody>
      </p:sp>
      <p:sp>
        <p:nvSpPr>
          <p:cNvPr id="12" name="step-dot-4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Refresh curriculum and Teacher Resources pages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Win back lesson-plan and teacher-manual searches</a:t>
            </a:r>
            <a:endParaRPr lang="en-US" sz="1500" dirty="0"/>
          </a:p>
        </p:txBody>
      </p:sp>
      <p:sp>
        <p:nvSpPr>
          <p:cNvPr id="15" name="step-dot-5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862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Set up AI visibility tracking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Measure how often ChatGPT and Gemini mention Mujo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Decisions we need from Mujo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</a:rPr>
              <a:t>High School / Higher Education wording in every title and H1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</a:rPr>
              <a:t>Product consolidation (separate student and teacher products)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</a:rPr>
              <a:t>Whether the Shop page should be indexed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</a:rPr>
              <a:t>Current proof points ("250+ schools") and the ADA claim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</a:rPr>
              <a:t>Local SEO / Google Business Profile: paused or active?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jo Review">
  <a:themeElements>
    <a:clrScheme name="Mujo Review">
      <a:dk1>
        <a:srgbClr val="12302E"/>
      </a:dk1>
      <a:lt1>
        <a:srgbClr val="FFFFFF"/>
      </a:lt1>
      <a:dk2>
        <a:srgbClr val="0F5E57"/>
      </a:dk2>
      <a:lt2>
        <a:srgbClr val="F3F7F6"/>
      </a:lt2>
      <a:accent1>
        <a:srgbClr val="0F5E57"/>
      </a:accent1>
      <a:accent2>
        <a:srgbClr val="E8A23A"/>
      </a:accent2>
      <a:accent3>
        <a:srgbClr val="D7EEE9"/>
      </a:accent3>
      <a:accent4>
        <a:srgbClr val="5B6B69"/>
      </a:accent4>
      <a:accent5>
        <a:srgbClr val="8FBFB6"/>
      </a:accent5>
      <a:accent6>
        <a:srgbClr val="C9D3D1"/>
      </a:accent6>
      <a:hlink>
        <a:srgbClr val="0F5E57"/>
      </a:hlink>
      <a:folHlink>
        <a:srgbClr val="5B6B69"/>
      </a:folHlink>
    </a:clrScheme>
    <a:fontScheme name="Mujo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Mujo SEO Performance Review, October 2026</dc:title>
  <dc:subject>PptxGenJS Presentation</dc:subject>
  <dc:creator>Francis Uy, ThinkProfits</dc:creator>
  <cp:lastModifiedBy>Francis Uy, ThinkProfits</cp:lastModifiedBy>
  <cp:revision>1</cp:revision>
  <dcterms:created xsi:type="dcterms:W3CDTF">2026-10-20T23:57:29Z</dcterms:created>
  <dcterms:modified xsi:type="dcterms:W3CDTF">2026-10-20T23:57:29Z</dcterms:modified>
</cp:coreProperties>
</file>